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92" d="100"/>
          <a:sy n="92" d="100"/>
        </p:scale>
        <p:origin x="29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FE698-F1DF-B96A-537D-B26D97D99F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274299-CFF7-064F-4746-F7E323E41F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A6672-568C-E3E5-E55E-B8511EC1E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E5CEF-E761-40D0-A725-98338F6C5A2D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6E5724-2690-FCE8-6DAA-F29087AE7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520FD7-AB24-C8BA-58F7-0BC6061C2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39327-9867-49BF-BE28-6C26F9459F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761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9C7CE-2E78-17C1-1A17-C422E9851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3BB4F-9A34-F4BC-0B04-CA29E4C32E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9A1956-861E-BD64-AB5F-08E6DAC4F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E5CEF-E761-40D0-A725-98338F6C5A2D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B30FB7-4CE7-279A-3ED7-32176BE2B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539764-CA37-9F4B-E9D7-58CA7C44C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39327-9867-49BF-BE28-6C26F9459F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312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6744F-31E1-A017-AE49-4ECE2DA78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54B929-DA89-2EB9-D52A-90999A8F0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BCEE91-14EC-AB20-2CD0-03906CBCE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E5CEF-E761-40D0-A725-98338F6C5A2D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6A8424-2CA6-5219-92C7-502A55CF4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A3F1C8-3C6F-88FA-10B0-70C1EC513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39327-9867-49BF-BE28-6C26F9459F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2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5B0F9-86B7-0CE0-9E01-9AB9D758D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B1447-DFD6-96C1-CCE0-06744F11DA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4F2747-D465-6EA3-F943-6F440742D1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78CC19-60BA-15C2-511E-13BF44A09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E5CEF-E761-40D0-A725-98338F6C5A2D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4D60D7-0423-A346-87CB-3180E15B4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077129-1881-693D-D966-0B8C43F9B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39327-9867-49BF-BE28-6C26F9459F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989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6B07E-7BA1-A353-7442-385E305F9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F6D7DE-A3A3-AC05-B8AB-9284822EDD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7DE0BC-8E02-EC6F-8D88-7F8D61E7EA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ABC07E-E51E-69C7-61D3-517D2DD5B3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322674-2308-B1E8-1A93-1F6A718BE3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417AFF-1627-5AAB-C2ED-D48CB9D96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E5CEF-E761-40D0-A725-98338F6C5A2D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A31399-E965-A304-5573-EF6188C7C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D9CD76-D115-EAAC-758D-96B4823F3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39327-9867-49BF-BE28-6C26F9459F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354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DC263-B5B5-44BB-BAB8-97628B91D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5938F4-2FCA-BCC4-AE9E-A39D4818B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E5CEF-E761-40D0-A725-98338F6C5A2D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7D37A3-2AED-E315-AF9C-DB24B5B41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9EF7C2-9B11-2872-3A47-88715B0F4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39327-9867-49BF-BE28-6C26F9459F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327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EFA377-EBB2-3409-DA4B-00584F512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E5CEF-E761-40D0-A725-98338F6C5A2D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72B298-A090-D353-4C7B-2504F1444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B4A9BB-46E8-464B-43F0-AE4D6F3D2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39327-9867-49BF-BE28-6C26F9459F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236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00A95-48D7-C2D9-823B-97DE56CBE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5003D-BF97-5BB8-2401-F2AA23BCC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D52B2E-F277-1813-770F-2A17A5FFCB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F9948D-C459-2298-A223-C9BC34596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E5CEF-E761-40D0-A725-98338F6C5A2D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6BA0B4-5EA0-E330-14B0-2C3A14A7B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9A404F-2676-8BA6-31B2-94B677986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39327-9867-49BF-BE28-6C26F9459F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951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95F81-EB3C-7F1F-B2FC-521E9DE98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5652CB-1636-439B-05AE-480EB76C3F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61347F-FC38-560A-E0CA-7A2A8C4207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800C65-CC96-16BE-357A-CBC1FA0D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E5CEF-E761-40D0-A725-98338F6C5A2D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837CD4-4AF9-50A2-6A9B-1A8C27F43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51A5BB-C210-68B0-87FB-EC9607093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39327-9867-49BF-BE28-6C26F9459F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483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0FCA9-7D93-5C3B-671A-63AD91B56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A74987-09B3-2963-A5DA-576008D6D5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E728CA-3BC5-E430-3263-28ED68E27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E5CEF-E761-40D0-A725-98338F6C5A2D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ECFFBC-6B5B-4DFD-673E-D0EF71FF1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633052-2869-EE3C-DCA3-BE1D023E4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39327-9867-49BF-BE28-6C26F9459F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029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110989-870A-7C6D-1037-C261E2245F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BA4D78-F9B3-4D46-F791-1F48A215B7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8394A0-2887-6A97-0037-7294775BB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E5CEF-E761-40D0-A725-98338F6C5A2D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A0120A-7F77-7B7F-A532-2B1D90C9D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B0A97F-AECD-7D70-51B5-5AA56B1D1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39327-9867-49BF-BE28-6C26F9459F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819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87CCE1-089E-D5A9-F3EC-A7FAEBF4D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3E7D20-9A34-0D77-503F-F1A0A7456B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5C29A5-4106-1FA8-999E-267B60147F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6E5CEF-E761-40D0-A725-98338F6C5A2D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61908D-8496-5DE7-DF96-D55818513F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2A6C90-F9ED-47D2-B54B-50DDFC65FD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E39327-9867-49BF-BE28-6C26F9459F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305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6C9AD-017D-9B44-BB4B-5727A65F50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Movie Data Visualization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2C8B1D-245E-0689-15CF-0190295C0C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By: Sydney Babb</a:t>
            </a:r>
          </a:p>
        </p:txBody>
      </p:sp>
    </p:spTree>
    <p:extLst>
      <p:ext uri="{BB962C8B-B14F-4D97-AF65-F5344CB8AC3E}">
        <p14:creationId xmlns:p14="http://schemas.microsoft.com/office/powerpoint/2010/main" val="42970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AF959-7549-F4C5-51D7-B29FD869B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633364" cy="188346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Business Decision: How does the budget/rating/popularity correlate with the revenue?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8955D8-6422-DB5E-19B0-A5FC3BF14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56657"/>
            <a:ext cx="10515600" cy="3820305"/>
          </a:xfrm>
        </p:spPr>
        <p:txBody>
          <a:bodyPr/>
          <a:lstStyle/>
          <a:p>
            <a:r>
              <a:rPr lang="en-US" dirty="0"/>
              <a:t>Budget</a:t>
            </a:r>
          </a:p>
          <a:p>
            <a:r>
              <a:rPr lang="en-US" dirty="0"/>
              <a:t>Rating</a:t>
            </a:r>
          </a:p>
          <a:p>
            <a:r>
              <a:rPr lang="en-US" dirty="0"/>
              <a:t>Popularity</a:t>
            </a:r>
          </a:p>
          <a:p>
            <a:r>
              <a:rPr lang="en-US" dirty="0"/>
              <a:t>Revenue</a:t>
            </a:r>
          </a:p>
        </p:txBody>
      </p:sp>
    </p:spTree>
    <p:extLst>
      <p:ext uri="{BB962C8B-B14F-4D97-AF65-F5344CB8AC3E}">
        <p14:creationId xmlns:p14="http://schemas.microsoft.com/office/powerpoint/2010/main" val="37189203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DBF06-AB74-F378-7A21-2B2A5F29A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Show popularity among languages used in the movies: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94A5D1C-15F2-7CDF-CB98-C28043CFD6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1044" y="948632"/>
            <a:ext cx="4372493" cy="568156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EA97C9A-03F7-BD4F-0422-D6F0C76D07C7}"/>
              </a:ext>
            </a:extLst>
          </p:cNvPr>
          <p:cNvSpPr txBox="1"/>
          <p:nvPr/>
        </p:nvSpPr>
        <p:spPr>
          <a:xfrm>
            <a:off x="918556" y="2136371"/>
            <a:ext cx="53866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Greek, Japanese, </a:t>
            </a:r>
            <a:r>
              <a:rPr lang="en-US" dirty="0" err="1"/>
              <a:t>Indonesiaian</a:t>
            </a:r>
            <a:r>
              <a:rPr lang="en-US" dirty="0"/>
              <a:t> is most popular spoken language original curated for among the movie data. </a:t>
            </a:r>
          </a:p>
        </p:txBody>
      </p:sp>
    </p:spTree>
    <p:extLst>
      <p:ext uri="{BB962C8B-B14F-4D97-AF65-F5344CB8AC3E}">
        <p14:creationId xmlns:p14="http://schemas.microsoft.com/office/powerpoint/2010/main" val="2683830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69A33-4252-B8AB-9805-38557DC9C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Show the trend among movie budgets each year: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261C8C5-34A5-E415-23B7-0CB18D8298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4735" y="1134787"/>
            <a:ext cx="7665345" cy="383267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D715B3-2857-43B3-F115-3F769BA42BE0}"/>
              </a:ext>
            </a:extLst>
          </p:cNvPr>
          <p:cNvSpPr txBox="1"/>
          <p:nvPr/>
        </p:nvSpPr>
        <p:spPr>
          <a:xfrm>
            <a:off x="644236" y="2011680"/>
            <a:ext cx="409401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Movies released earlier between 1920 and 1940 had higher budgets, while movies released in 80s to 2000s saw a budget increase (not as high between 1920 and 1940). </a:t>
            </a:r>
          </a:p>
        </p:txBody>
      </p:sp>
    </p:spTree>
    <p:extLst>
      <p:ext uri="{BB962C8B-B14F-4D97-AF65-F5344CB8AC3E}">
        <p14:creationId xmlns:p14="http://schemas.microsoft.com/office/powerpoint/2010/main" val="832763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8F2E8-BC91-FB59-CD52-A46D736A2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Show the distribution among movie ratings: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73ABB0D-12DB-80B2-4FB3-2B852791A5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1793" y="1325287"/>
            <a:ext cx="7225897" cy="362098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3810F2F-2B69-2BEC-BCFB-A10776F910AC}"/>
              </a:ext>
            </a:extLst>
          </p:cNvPr>
          <p:cNvSpPr txBox="1"/>
          <p:nvPr/>
        </p:nvSpPr>
        <p:spPr>
          <a:xfrm>
            <a:off x="760615" y="1654233"/>
            <a:ext cx="464681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There are higher peaks of average reviews between 5 and 7. There is a spread between average reviews below 4. The histogram is slightly left skewed (negatively skewed) mean &lt; median &lt; mode.“ </a:t>
            </a:r>
          </a:p>
        </p:txBody>
      </p:sp>
    </p:spTree>
    <p:extLst>
      <p:ext uri="{BB962C8B-B14F-4D97-AF65-F5344CB8AC3E}">
        <p14:creationId xmlns:p14="http://schemas.microsoft.com/office/powerpoint/2010/main" val="10046392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03D4D-6A42-0F21-CBF1-5A4787972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Relationship between average rating and revenue: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4F0BC0B-F67A-BE76-A675-7260DC5709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5078" y="1167937"/>
            <a:ext cx="7831802" cy="39159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9631F77-3E4D-E3FC-01BB-667C27EB5A6C}"/>
              </a:ext>
            </a:extLst>
          </p:cNvPr>
          <p:cNvSpPr txBox="1"/>
          <p:nvPr/>
        </p:nvSpPr>
        <p:spPr>
          <a:xfrm>
            <a:off x="619298" y="1816331"/>
            <a:ext cx="40607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clustering between average votes of 5 and 8 (No correlation). </a:t>
            </a:r>
          </a:p>
        </p:txBody>
      </p:sp>
    </p:spTree>
    <p:extLst>
      <p:ext uri="{BB962C8B-B14F-4D97-AF65-F5344CB8AC3E}">
        <p14:creationId xmlns:p14="http://schemas.microsoft.com/office/powerpoint/2010/main" val="13889937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5D5BD-B936-7547-9F15-2BFDE7BB9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Show distribution of revenue among release months from movie data: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93B55BA-8217-9160-0B5B-E3C7F72F9D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5167" y="1544580"/>
            <a:ext cx="7537680" cy="37688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448663F-42AA-A15B-700C-D9B193E24DC6}"/>
              </a:ext>
            </a:extLst>
          </p:cNvPr>
          <p:cNvSpPr txBox="1"/>
          <p:nvPr/>
        </p:nvSpPr>
        <p:spPr>
          <a:xfrm>
            <a:off x="498764" y="1974273"/>
            <a:ext cx="44182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Summer and Holiday months generate the most in revenue. </a:t>
            </a:r>
          </a:p>
        </p:txBody>
      </p:sp>
    </p:spTree>
    <p:extLst>
      <p:ext uri="{BB962C8B-B14F-4D97-AF65-F5344CB8AC3E}">
        <p14:creationId xmlns:p14="http://schemas.microsoft.com/office/powerpoint/2010/main" val="25905072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46FA4-63C4-B346-D615-B0EF8AF88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Show the trend every year the revenue generated based off the rating: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AA2ECC4-27E3-6E1D-25FD-508AF86DF5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1422" y="1621963"/>
            <a:ext cx="7421302" cy="37106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8E59E35-0592-2011-0DC3-433AF3054530}"/>
              </a:ext>
            </a:extLst>
          </p:cNvPr>
          <p:cNvSpPr txBox="1"/>
          <p:nvPr/>
        </p:nvSpPr>
        <p:spPr>
          <a:xfrm>
            <a:off x="789709" y="2061556"/>
            <a:ext cx="42478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rating average between 7 and 8 generates the most in revenue. </a:t>
            </a:r>
          </a:p>
        </p:txBody>
      </p:sp>
    </p:spTree>
    <p:extLst>
      <p:ext uri="{BB962C8B-B14F-4D97-AF65-F5344CB8AC3E}">
        <p14:creationId xmlns:p14="http://schemas.microsoft.com/office/powerpoint/2010/main" val="28207106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F1FE7-EE43-288E-8E59-02F90972E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rating influence the revenue generated?: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E52E26A-C794-B4DF-BDE3-C33CF7AD34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870" y="1385051"/>
            <a:ext cx="4351338" cy="43513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30B2D10-58AC-ADE8-EC78-A7F118280979}"/>
              </a:ext>
            </a:extLst>
          </p:cNvPr>
          <p:cNvSpPr txBox="1"/>
          <p:nvPr/>
        </p:nvSpPr>
        <p:spPr>
          <a:xfrm>
            <a:off x="838200" y="2057400"/>
            <a:ext cx="5637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rating between 6 - 8 generates the most in revenue. </a:t>
            </a:r>
          </a:p>
        </p:txBody>
      </p:sp>
    </p:spTree>
    <p:extLst>
      <p:ext uri="{BB962C8B-B14F-4D97-AF65-F5344CB8AC3E}">
        <p14:creationId xmlns:p14="http://schemas.microsoft.com/office/powerpoint/2010/main" val="27610191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B2AE6-625E-3CDF-84CD-F5F8B8A5B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Movie Popularity based off of the release data: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599CC59-66AB-7732-E7DD-76A5264037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673" y="1205345"/>
            <a:ext cx="7532544" cy="37662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C3C92DE-400C-06C5-F0DD-962949243411}"/>
              </a:ext>
            </a:extLst>
          </p:cNvPr>
          <p:cNvSpPr txBox="1"/>
          <p:nvPr/>
        </p:nvSpPr>
        <p:spPr>
          <a:xfrm>
            <a:off x="739833" y="1554480"/>
            <a:ext cx="36118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Summer and Holiday months had the most movie popularity. 2010s had more popularity of movies. (advertising). </a:t>
            </a:r>
          </a:p>
        </p:txBody>
      </p:sp>
    </p:spTree>
    <p:extLst>
      <p:ext uri="{BB962C8B-B14F-4D97-AF65-F5344CB8AC3E}">
        <p14:creationId xmlns:p14="http://schemas.microsoft.com/office/powerpoint/2010/main" val="5911448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5B2F7-690D-4208-94C5-EBFB35825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Scale of revenue generated based off of the rating: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131AA01-07C3-05CE-EB33-36131F23DA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2659" y="1027906"/>
            <a:ext cx="6106515" cy="43513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FEED53-AE8B-9F6D-1BE4-7D50740B216D}"/>
              </a:ext>
            </a:extLst>
          </p:cNvPr>
          <p:cNvSpPr txBox="1"/>
          <p:nvPr/>
        </p:nvSpPr>
        <p:spPr>
          <a:xfrm>
            <a:off x="627611" y="1824644"/>
            <a:ext cx="49460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Ratings between 5 and 8 generate the most in revenue, while ratings below 4 and higher than 8 generate the least. </a:t>
            </a:r>
          </a:p>
        </p:txBody>
      </p:sp>
    </p:spTree>
    <p:extLst>
      <p:ext uri="{BB962C8B-B14F-4D97-AF65-F5344CB8AC3E}">
        <p14:creationId xmlns:p14="http://schemas.microsoft.com/office/powerpoint/2010/main" val="9081041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74A77-F7DA-B6E5-5CBF-339F039BB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Relationship between rating and revenue throughout the release year: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A261D2A-010C-EA2B-4695-573ECFCC65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3826" y="1617807"/>
            <a:ext cx="6689782" cy="33448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A715837-5A23-FF4C-1D33-0600CC770AB8}"/>
              </a:ext>
            </a:extLst>
          </p:cNvPr>
          <p:cNvSpPr txBox="1"/>
          <p:nvPr/>
        </p:nvSpPr>
        <p:spPr>
          <a:xfrm>
            <a:off x="748145" y="1953491"/>
            <a:ext cx="46385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Rating of 6 to 8 generates the most in revenue, while rating below 4 and between 9 to 10 generates the least. </a:t>
            </a:r>
          </a:p>
        </p:txBody>
      </p:sp>
    </p:spTree>
    <p:extLst>
      <p:ext uri="{BB962C8B-B14F-4D97-AF65-F5344CB8AC3E}">
        <p14:creationId xmlns:p14="http://schemas.microsoft.com/office/powerpoint/2010/main" val="6306767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8F018-D3FA-ABCB-7980-B03CDD0BF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Show the distribution and quartiles of revenue generated each rating: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9CA799C-9312-EEA4-84A3-626D25F7DA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2148" y="1699000"/>
            <a:ext cx="8683516" cy="265821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4098D30-E969-DF2C-524E-27280CF76AB5}"/>
              </a:ext>
            </a:extLst>
          </p:cNvPr>
          <p:cNvSpPr txBox="1"/>
          <p:nvPr/>
        </p:nvSpPr>
        <p:spPr>
          <a:xfrm>
            <a:off x="1604356" y="4357219"/>
            <a:ext cx="78430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Ratings 5-8 generate most in revenue (no correlation). Ratings below 5 generate no revenue (slight negative correlation) and ratings 9-10 generate no revenue (no correlation). </a:t>
            </a:r>
          </a:p>
        </p:txBody>
      </p:sp>
    </p:spTree>
    <p:extLst>
      <p:ext uri="{BB962C8B-B14F-4D97-AF65-F5344CB8AC3E}">
        <p14:creationId xmlns:p14="http://schemas.microsoft.com/office/powerpoint/2010/main" val="30081566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0377E9-69D1-2608-30B7-3737673BA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600"/>
              <a:t>Interactive Dashboard: Does budget and rating correlate with revenue?: 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E850B9F-3D79-B589-D818-2C63E07F8D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" y="2151208"/>
            <a:ext cx="5614416" cy="17123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3B7D4D-BFE6-23E3-883E-3B50BCFB12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3701" y="2151208"/>
            <a:ext cx="5614416" cy="17123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246E1DB-32B4-0DF1-F97D-A3D7F21DDC58}"/>
              </a:ext>
            </a:extLst>
          </p:cNvPr>
          <p:cNvSpPr txBox="1"/>
          <p:nvPr/>
        </p:nvSpPr>
        <p:spPr>
          <a:xfrm>
            <a:off x="2057400" y="4717473"/>
            <a:ext cx="68039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Lesser the budget less revenue generated and higher the budget more revenue generated. Ratings between 5 to 8 generate the most in revenue (no correlation). </a:t>
            </a:r>
          </a:p>
        </p:txBody>
      </p:sp>
    </p:spTree>
    <p:extLst>
      <p:ext uri="{BB962C8B-B14F-4D97-AF65-F5344CB8AC3E}">
        <p14:creationId xmlns:p14="http://schemas.microsoft.com/office/powerpoint/2010/main" val="35654029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16872-C2A7-7F89-CB35-F11ECFA6E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991533"/>
          </a:xfrm>
        </p:spPr>
        <p:txBody>
          <a:bodyPr/>
          <a:lstStyle/>
          <a:p>
            <a:r>
              <a:rPr lang="en-US" b="1" dirty="0"/>
              <a:t>Business Decision: How does the budget/rating/popularity correlate with the revenue?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F7FDCC-0990-F02C-72CF-B438B76B8D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64475"/>
            <a:ext cx="10515600" cy="3612487"/>
          </a:xfrm>
        </p:spPr>
        <p:txBody>
          <a:bodyPr/>
          <a:lstStyle/>
          <a:p>
            <a:r>
              <a:rPr lang="en-US" dirty="0"/>
              <a:t>In conclusion, while quality and popularity matter, financial investment remains the strongest predictor of box office success. </a:t>
            </a:r>
          </a:p>
        </p:txBody>
      </p:sp>
    </p:spTree>
    <p:extLst>
      <p:ext uri="{BB962C8B-B14F-4D97-AF65-F5344CB8AC3E}">
        <p14:creationId xmlns:p14="http://schemas.microsoft.com/office/powerpoint/2010/main" val="19896432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440</Words>
  <Application>Microsoft Office PowerPoint</Application>
  <PresentationFormat>Widescreen</PresentationFormat>
  <Paragraphs>33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Movie Data Visualization</vt:lpstr>
      <vt:lpstr>Business Decision: How does the budget/rating/popularity correlate with the revenue? </vt:lpstr>
      <vt:lpstr>Show popularity among languages used in the movies: </vt:lpstr>
      <vt:lpstr>Show the trend among movie budgets each year: </vt:lpstr>
      <vt:lpstr>Show the distribution among movie ratings: </vt:lpstr>
      <vt:lpstr>Relationship between average rating and revenue: </vt:lpstr>
      <vt:lpstr>Show distribution of revenue among release months from movie data: </vt:lpstr>
      <vt:lpstr>Show the trend every year the revenue generated based off the rating: </vt:lpstr>
      <vt:lpstr>How does rating influence the revenue generated?: </vt:lpstr>
      <vt:lpstr>Movie Popularity based off of the release data: </vt:lpstr>
      <vt:lpstr>Scale of revenue generated based off of the rating: </vt:lpstr>
      <vt:lpstr>Relationship between rating and revenue throughout the release year: </vt:lpstr>
      <vt:lpstr>Show the distribution and quartiles of revenue generated each rating: </vt:lpstr>
      <vt:lpstr>Interactive Dashboard: Does budget and rating correlate with revenue?: </vt:lpstr>
      <vt:lpstr>Business Decision: How does the budget/rating/popularity correlate with the revenue?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Babb, Sydney</dc:creator>
  <cp:lastModifiedBy>Babb, Sydney</cp:lastModifiedBy>
  <cp:revision>7</cp:revision>
  <dcterms:created xsi:type="dcterms:W3CDTF">2026-04-28T19:14:46Z</dcterms:created>
  <dcterms:modified xsi:type="dcterms:W3CDTF">2026-04-28T19:59:20Z</dcterms:modified>
</cp:coreProperties>
</file>